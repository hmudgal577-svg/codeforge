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EE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09728" cy="68580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4F46E5"/>
                </a:solidFill>
              </a:defRPr>
            </a:pPr>
            <a:r>
              <a:t>CODEFORGE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8B5CF6"/>
                </a:solidFill>
              </a:defRPr>
            </a:pPr>
            <a:r>
              <a:t>AI-Powered Collaborative Cloud 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200400"/>
            <a:ext cx="2743200" cy="457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6478"/>
                </a:solidFill>
              </a:defRPr>
            </a:pPr>
            <a:r>
              <a:t>A Full-Stack Development Environment with Real-Time Collaboration,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6478"/>
                </a:solidFill>
              </a:defRPr>
            </a:pPr>
            <a:r>
              <a:t>Multi-Language Execution Engine &amp; AI-Powered Code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78"/>
                </a:solidFill>
              </a:defRPr>
            </a:pPr>
            <a:r>
              <a:t>Major Project Presentation  |  2025-26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486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78"/>
                </a:solidFill>
              </a:defRPr>
            </a:pPr>
            <a:r>
              <a:t>Department of Computer Science &amp; Engineering</a:t>
            </a:r>
          </a:p>
        </p:txBody>
      </p:sp>
      <p:pic>
        <p:nvPicPr>
          <p:cNvPr id="11" name="Picture 10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46E5"/>
                </a:solidFill>
              </a:defRPr>
            </a:pPr>
            <a:r>
              <a:t>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828800" cy="457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1E32"/>
                </a:solidFill>
              </a:defRPr>
            </a:pPr>
          </a:p>
          <a:p>
            <a:pPr>
              <a:spcBef>
                <a:spcPts val="1400"/>
              </a:spcBef>
              <a:defRPr sz="1800" b="1">
                <a:solidFill>
                  <a:srgbClr val="4F46E5"/>
                </a:solidFill>
              </a:defRPr>
            </a:pPr>
            <a:r>
              <a:t>What is CodeForge AI?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A browser-based Cloud IDE built for modern developers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Write, run, debug &amp; collaborate on code — all in one place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Supports 20+ programming languages with instant execution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AI assistant built-in for code analysis &amp; debugging</a:t>
            </a:r>
          </a:p>
          <a:p>
            <a:pPr>
              <a:spcBef>
                <a:spcPts val="1400"/>
              </a:spcBef>
              <a:defRPr sz="1800" b="1">
                <a:solidFill>
                  <a:srgbClr val="4F46E5"/>
                </a:solidFill>
              </a:defRPr>
            </a:pPr>
            <a:r>
              <a:t>Why CodeForge?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No setup needed — works entirely in the browser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Real-time collaboration like Google Docs for code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Intelligent AI assistant powered by multiple providers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Secure sandboxed execution using Docker containers</a:t>
            </a:r>
          </a:p>
        </p:txBody>
      </p:sp>
      <p:pic>
        <p:nvPicPr>
          <p:cNvPr id="6" name="Picture 5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0"/>
            <a:ext cx="438912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46E5"/>
                </a:solidFill>
              </a:defRPr>
            </a:pPr>
            <a: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828800" cy="457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1E32"/>
                </a:solidFill>
              </a:defRPr>
            </a:pPr>
          </a:p>
          <a:p>
            <a:pPr>
              <a:spcBef>
                <a:spcPts val="1400"/>
              </a:spcBef>
              <a:defRPr sz="1800" b="1">
                <a:solidFill>
                  <a:srgbClr val="4F46E5"/>
                </a:solidFill>
              </a:defRPr>
            </a:pPr>
            <a:r>
              <a:t>Current Challenges in Development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Setting up development environments is time-consuming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Collaborating on code requires external tools (Git, Slack, etc.)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Running multiple languages needs installing separate runtimes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No integrated AI assistance in traditional IDEs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Security risks when executing untrusted code</a:t>
            </a:r>
          </a:p>
          <a:p>
            <a:pPr>
              <a:spcBef>
                <a:spcPts val="1400"/>
              </a:spcBef>
              <a:defRPr sz="1800" b="1">
                <a:solidFill>
                  <a:srgbClr val="4F46E5"/>
                </a:solidFill>
              </a:defRPr>
            </a:pPr>
            <a:r>
              <a:t>Our Solution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Single platform for coding, execution, collaboration &amp; AI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Zero-setup browser-based IDE with Docker sandboxing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Multi-provider AI failover ensures 99.9% availability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46E5"/>
                </a:solidFill>
              </a:defRPr>
            </a:pPr>
            <a:r>
              <a:t>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828800" cy="457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1E32"/>
                </a:solidFill>
              </a:defRPr>
            </a:pPr>
          </a:p>
          <a:p>
            <a:pPr>
              <a:spcBef>
                <a:spcPts val="1400"/>
              </a:spcBef>
              <a:defRPr sz="1800" b="1">
                <a:solidFill>
                  <a:srgbClr val="4F46E5"/>
                </a:solidFill>
              </a:defRPr>
            </a:pPr>
            <a:r>
              <a:t>Primary Objectives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Build a cloud-based IDE accessible from any browser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Support 20+ programming languages with sandboxed execution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Integrate AI-powered code analysis with multi-provider failover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Enable real-time multi-user collaboration with WebSocket</a:t>
            </a:r>
          </a:p>
          <a:p>
            <a:pPr>
              <a:spcBef>
                <a:spcPts val="1400"/>
              </a:spcBef>
              <a:defRPr sz="1800" b="1">
                <a:solidFill>
                  <a:srgbClr val="4F46E5"/>
                </a:solidFill>
              </a:defRPr>
            </a:pPr>
            <a:r>
              <a:t>Secondary Objectives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Implement security scanning before code execution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Create Docker-based isolated runtime environments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Build admin dashboard with analytics &amp; monitoring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Ensure responsive UI with modern design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46E5"/>
                </a:solidFill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828800" cy="457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1E32"/>
                </a:solidFill>
              </a:defRPr>
            </a:pPr>
          </a:p>
          <a:p>
            <a:pPr>
              <a:spcBef>
                <a:spcPts val="1400"/>
              </a:spcBef>
              <a:defRPr sz="1800" b="1">
                <a:solidFill>
                  <a:srgbClr val="4F46E5"/>
                </a:solidFill>
              </a:defRPr>
            </a:pPr>
            <a:r>
              <a:t>Frontend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Next.js 14 (React) — Server-side rendering &amp; routing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Monaco Editor — VS Code's editor engine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TailwindCSS — Utility-first styling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Socket.IO Client — Real-time communication</a:t>
            </a:r>
          </a:p>
          <a:p>
            <a:pPr>
              <a:spcBef>
                <a:spcPts val="1400"/>
              </a:spcBef>
              <a:defRPr sz="1800" b="1">
                <a:solidFill>
                  <a:srgbClr val="4F46E5"/>
                </a:solidFill>
              </a:defRPr>
            </a:pPr>
            <a:r>
              <a:t>Backend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NestJS (Node.js) — Enterprise-grade API framework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Prisma ORM — Type-safe database access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PostgreSQL — Primary relational database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Redis — Caching &amp; session management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RabbitMQ — Message queue for async tasks</a:t>
            </a:r>
          </a:p>
        </p:txBody>
      </p:sp>
      <p:pic>
        <p:nvPicPr>
          <p:cNvPr id="6" name="Picture 5" descr="tech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0"/>
            <a:ext cx="438912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46E5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828800" cy="457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1E32"/>
                </a:solidFill>
              </a:defRPr>
            </a:pPr>
          </a:p>
          <a:p>
            <a:pPr>
              <a:spcBef>
                <a:spcPts val="1400"/>
              </a:spcBef>
              <a:defRPr sz="1800" b="1">
                <a:solidFill>
                  <a:srgbClr val="4F46E5"/>
                </a:solidFill>
              </a:defRPr>
            </a:pPr>
            <a:r>
              <a:t>Microservices Architecture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API Gateway — Central routing &amp; authentication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Execution Engine — Sandboxed code runners (Docker)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AI Service — Multi-provider failover (Gemini, Groq)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Collaboration Gateway — WebSocket real-time sync</a:t>
            </a:r>
          </a:p>
          <a:p>
            <a:pPr>
              <a:spcBef>
                <a:spcPts val="1400"/>
              </a:spcBef>
              <a:defRPr sz="1800" b="1">
                <a:solidFill>
                  <a:srgbClr val="4F46E5"/>
                </a:solidFill>
              </a:defRPr>
            </a:pPr>
            <a:r>
              <a:t>Infrastructure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Docker containers for 20 language runtimes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PostgreSQL for persistent data storage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Redis for caching &amp; real-time presence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RabbitMQ for event-driven microservice communication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0"/>
            <a:ext cx="438912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46E5"/>
                </a:solidFill>
              </a:defRPr>
            </a:pPr>
            <a:r>
              <a:t>Monaco Code Editor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828800" cy="457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1E32"/>
                </a:solidFill>
              </a:defRPr>
            </a:pPr>
          </a:p>
          <a:p>
            <a:pPr>
              <a:spcBef>
                <a:spcPts val="1400"/>
              </a:spcBef>
              <a:defRPr sz="1800" b="1">
                <a:solidFill>
                  <a:srgbClr val="4F46E5"/>
                </a:solidFill>
              </a:defRPr>
            </a:pPr>
            <a:r>
              <a:t>Features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Syntax highlighting for 20+ languages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IntelliSense auto-completion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Multi-cursor editing support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Theme customization (Dark/Light)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File explorer with tree view</a:t>
            </a:r>
          </a:p>
          <a:p>
            <a:pPr>
              <a:spcBef>
                <a:spcPts val="1400"/>
              </a:spcBef>
              <a:defRPr sz="1800" b="1">
                <a:solidFill>
                  <a:srgbClr val="4F46E5"/>
                </a:solidFill>
              </a:defRPr>
            </a:pPr>
            <a:r>
              <a:t>Integration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Real-time content sync via WebSocket (CRDT)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Auto-detect language from file extension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Stdin input support for interactive programs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One-click Run button with console output</a:t>
            </a:r>
          </a:p>
        </p:txBody>
      </p:sp>
      <p:pic>
        <p:nvPicPr>
          <p:cNvPr id="6" name="Picture 5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0"/>
            <a:ext cx="438912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46E5"/>
                </a:solidFill>
              </a:defRPr>
            </a:pPr>
            <a:r>
              <a:t>Multi-Language Execution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828800" cy="457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1E32"/>
                </a:solidFill>
              </a:defRPr>
            </a:pPr>
          </a:p>
          <a:p>
            <a:pPr>
              <a:spcBef>
                <a:spcPts val="1400"/>
              </a:spcBef>
              <a:defRPr sz="1800" b="1">
                <a:solidFill>
                  <a:srgbClr val="4F46E5"/>
                </a:solidFill>
              </a:defRPr>
            </a:pPr>
            <a:r>
              <a:t>20 Supported Languages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JavaScript, TypeScript, Python, Java, C++, C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Go, Rust, Ruby, PHP, Dart, Kotlin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Scala, Swift, C#, Perl, R, Lua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PowerShell, Bash</a:t>
            </a:r>
          </a:p>
          <a:p>
            <a:pPr>
              <a:spcBef>
                <a:spcPts val="1400"/>
              </a:spcBef>
              <a:defRPr sz="1800" b="1">
                <a:solidFill>
                  <a:srgbClr val="4F46E5"/>
                </a:solidFill>
              </a:defRPr>
            </a:pPr>
            <a:r>
              <a:t>Execution Strategy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Smart routing: Local runtime → Docker fallback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Each language runs in isolated Docker container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Memory limit: 128MB | CPU limit: 0.5 cores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Automatic timeout: 30 seconds max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Stdin/stdout piping for interactive programs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46E5"/>
                </a:solidFill>
              </a:defRPr>
            </a:pPr>
            <a:r>
              <a:t>Docker Sandboxed Execution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828800" cy="457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1E32"/>
                </a:solidFill>
              </a:defRPr>
            </a:pPr>
          </a:p>
          <a:p>
            <a:pPr>
              <a:spcBef>
                <a:spcPts val="1400"/>
              </a:spcBef>
              <a:defRPr sz="1800" b="1">
                <a:solidFill>
                  <a:srgbClr val="4F46E5"/>
                </a:solidFill>
              </a:defRPr>
            </a:pPr>
            <a:r>
              <a:t>Security Constraints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Read-only filesystem (--read-only)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No network access (--network=none)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Non-root user execution (uid 1000)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Process limit: 50 PIDs max (fork bomb prevention)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No privilege escalation (no-new-privileges)</a:t>
            </a:r>
          </a:p>
          <a:p>
            <a:pPr>
              <a:spcBef>
                <a:spcPts val="1400"/>
              </a:spcBef>
              <a:defRPr sz="1800" b="1">
                <a:solidFill>
                  <a:srgbClr val="4F46E5"/>
                </a:solidFill>
              </a:defRPr>
            </a:pPr>
            <a:r>
              <a:t>Container Architecture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Alpine-based lightweight images (~50MB each)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Separate /build directory for compiled languages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Auto-cleanup after execution completes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Parallel execution support for multiple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7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46E5"/>
                </a:solidFill>
              </a:defRPr>
            </a:pPr>
            <a:r>
              <a:t>AI-Powered Code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828800" cy="457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1E32"/>
                </a:solidFill>
              </a:defRPr>
            </a:pPr>
          </a:p>
          <a:p>
            <a:pPr>
              <a:spcBef>
                <a:spcPts val="1400"/>
              </a:spcBef>
              <a:defRPr sz="1800" b="1">
                <a:solidFill>
                  <a:srgbClr val="4F46E5"/>
                </a:solidFill>
              </a:defRPr>
            </a:pPr>
            <a:r>
              <a:t>10 Analysis Types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Code Explanation — Understand any code instantly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Bug Detection — Find logical errors &amp; edge cases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Performance Optimization — Big-O &amp; efficiency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Security Vulnerability — OWASP Top 10 scanning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Code Refactoring — SOLID principles &amp; clean code</a:t>
            </a:r>
          </a:p>
          <a:p>
            <a:pPr>
              <a:spcBef>
                <a:spcPts val="1400"/>
              </a:spcBef>
              <a:defRPr sz="1800" b="1">
                <a:solidFill>
                  <a:srgbClr val="4F46E5"/>
                </a:solidFill>
              </a:defRPr>
            </a:pPr>
            <a:r>
              <a:t>AI Chat Assistant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Real-time chat within the IDE workspace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Context-aware responses with conversation history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Markdown rendering for formatted code output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Multi-language support (Hindi &amp; English)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7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46E5"/>
                </a:solidFill>
              </a:defRPr>
            </a:pPr>
            <a:r>
              <a:t>Multi-Provider AI Failover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828800" cy="457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1E32"/>
                </a:solidFill>
              </a:defRPr>
            </a:pPr>
          </a:p>
          <a:p>
            <a:pPr>
              <a:spcBef>
                <a:spcPts val="1400"/>
              </a:spcBef>
              <a:defRPr sz="1800" b="1">
                <a:solidFill>
                  <a:srgbClr val="4F46E5"/>
                </a:solidFill>
              </a:defRPr>
            </a:pPr>
            <a:r>
              <a:t>Provider Strategy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Primary: Google Gemini 2.0 Flash (1500 req/day)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Backup: Groq Llama 3.1 (14400 req/day)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Tertiary: OpenRouter (200 req/day)</a:t>
            </a:r>
          </a:p>
          <a:p>
            <a:pPr>
              <a:spcBef>
                <a:spcPts val="1400"/>
              </a:spcBef>
              <a:defRPr sz="1800" b="1">
                <a:solidFill>
                  <a:srgbClr val="4F46E5"/>
                </a:solidFill>
              </a:defRPr>
            </a:pPr>
            <a:r>
              <a:t>How Failover Works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Automatic rotation when provider hits rate limit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429 errors trigger instant switch to next provider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Daily quota tracking per provider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Smart fallback with mock responses if all fail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99.9% AI availability guaranteed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7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46E5"/>
                </a:solidFill>
              </a:defRPr>
            </a:pPr>
            <a:r>
              <a:t>Real-Time Collaboration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828800" cy="457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1E32"/>
                </a:solidFill>
              </a:defRPr>
            </a:pPr>
          </a:p>
          <a:p>
            <a:pPr>
              <a:spcBef>
                <a:spcPts val="1400"/>
              </a:spcBef>
              <a:defRPr sz="1800" b="1">
                <a:solidFill>
                  <a:srgbClr val="4F46E5"/>
                </a:solidFill>
              </a:defRPr>
            </a:pPr>
            <a:r>
              <a:t>Features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Multi-user cursor sync with color indicators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Live presence bar showing online team members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Real-time code editing (WebSocket + CRDT)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Workspace chat with AI assistant integration</a:t>
            </a:r>
          </a:p>
          <a:p>
            <a:pPr>
              <a:spcBef>
                <a:spcPts val="1400"/>
              </a:spcBef>
              <a:defRPr sz="1800" b="1">
                <a:solidFill>
                  <a:srgbClr val="4F46E5"/>
                </a:solidFill>
              </a:defRPr>
            </a:pPr>
            <a:r>
              <a:t>Technical Implementation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Socket.IO for bi-directional real-time communication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Room-based architecture for workspace isolation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Conflict-free Replicated Data Types (CRDT) for sync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30-second heartbeat for connection health</a:t>
            </a:r>
          </a:p>
        </p:txBody>
      </p:sp>
      <p:pic>
        <p:nvPicPr>
          <p:cNvPr id="6" name="Picture 5" descr="col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0"/>
            <a:ext cx="438912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7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46E5"/>
                </a:solidFill>
              </a:defRPr>
            </a:pPr>
            <a:r>
              <a:t>Security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828800" cy="457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1E32"/>
                </a:solidFill>
              </a:defRPr>
            </a:pPr>
          </a:p>
          <a:p>
            <a:pPr>
              <a:spcBef>
                <a:spcPts val="1400"/>
              </a:spcBef>
              <a:defRPr sz="1800" b="1">
                <a:solidFill>
                  <a:srgbClr val="4F46E5"/>
                </a:solidFill>
              </a:defRPr>
            </a:pPr>
            <a:r>
              <a:t>Authentication &amp; Authorization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JWT + Refresh token based auth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Bcrypt password hashing (12 salt rounds)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Role-based access control (RBAC)</a:t>
            </a:r>
          </a:p>
          <a:p>
            <a:pPr>
              <a:spcBef>
                <a:spcPts val="1400"/>
              </a:spcBef>
              <a:defRPr sz="1800" b="1">
                <a:solidFill>
                  <a:srgbClr val="4F46E5"/>
                </a:solidFill>
              </a:defRPr>
            </a:pPr>
            <a:r>
              <a:t>Code Execution Security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Pre-execution threat scanning engine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Pattern matching for dangerous code (fork bombs, etc.)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Risk scoring system (0-100 scale)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Auto-block for critical threats, warn for medium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Docker container isolation with no network access</a:t>
            </a:r>
          </a:p>
        </p:txBody>
      </p:sp>
      <p:pic>
        <p:nvPicPr>
          <p:cNvPr id="6" name="Picture 5" descr="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0"/>
            <a:ext cx="438912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78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46E5"/>
                </a:solidFill>
              </a:defRPr>
            </a:pPr>
            <a:r>
              <a:t>Database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828800" cy="457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1E32"/>
                </a:solidFill>
              </a:defRPr>
            </a:pPr>
          </a:p>
          <a:p>
            <a:pPr>
              <a:spcBef>
                <a:spcPts val="1400"/>
              </a:spcBef>
              <a:defRPr sz="1800" b="1">
                <a:solidFill>
                  <a:srgbClr val="4F46E5"/>
                </a:solidFill>
              </a:defRPr>
            </a:pPr>
            <a:r>
              <a:t>PostgreSQL + Prisma ORM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User — Authentication &amp; profile data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Workspace — Project containers with settings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File — Source code files with versioning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ExecutionJob — Code execution records &amp; results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AiRequest — AI analysis history &amp; caching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ChatMessage — Real-time collaboration messages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Notification — User notification system</a:t>
            </a:r>
          </a:p>
          <a:p>
            <a:pPr>
              <a:spcBef>
                <a:spcPts val="1400"/>
              </a:spcBef>
              <a:defRPr sz="1800" b="1">
                <a:solidFill>
                  <a:srgbClr val="4F46E5"/>
                </a:solidFill>
              </a:defRPr>
            </a:pPr>
            <a:r>
              <a:t>Key Design Decisions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Prisma for type-safe queries &amp; auto-migrations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Connection pooling (17 connections) for performance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Indexed queries for fast workspace lookups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78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46E5"/>
                </a:solidFill>
              </a:defRPr>
            </a:pPr>
            <a:r>
              <a:t>Results &amp; 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828800" cy="457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1E32"/>
                </a:solidFill>
              </a:defRPr>
            </a:pPr>
          </a:p>
          <a:p>
            <a:pPr>
              <a:spcBef>
                <a:spcPts val="1400"/>
              </a:spcBef>
              <a:defRPr sz="1800" b="1">
                <a:solidFill>
                  <a:srgbClr val="4F46E5"/>
                </a:solidFill>
              </a:defRPr>
            </a:pPr>
            <a:r>
              <a:t>Key Metrics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20 languages supported &amp; tested successfully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AI response time: &lt; 3 seconds average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Code execution: &lt; 5 seconds for most languages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Real-time sync latency: &lt; 100ms</a:t>
            </a:r>
          </a:p>
          <a:p>
            <a:pPr>
              <a:spcBef>
                <a:spcPts val="1400"/>
              </a:spcBef>
              <a:defRPr sz="1800" b="1">
                <a:solidFill>
                  <a:srgbClr val="4F46E5"/>
                </a:solidFill>
              </a:defRPr>
            </a:pPr>
            <a:r>
              <a:t>Live Demo Highlights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C++ diamond pattern with stdin input (cin &gt;&gt; n)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AI chat responding in Hindi &amp; English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Multi-user collaboration with live cursors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Security engine blocking malicious code</a:t>
            </a:r>
          </a:p>
          <a:p>
            <a:pPr>
              <a:spcBef>
                <a:spcPts val="800"/>
              </a:spcBef>
              <a:defRPr sz="1500" b="0">
                <a:solidFill>
                  <a:srgbClr val="646478"/>
                </a:solidFill>
              </a:defRPr>
            </a:pPr>
            <a:r>
              <a:t>▸  Docker fallback for uninstalled languages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78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46E5"/>
                </a:solidFill>
              </a:defRPr>
            </a:pPr>
            <a:r>
              <a:t>Future Scope &amp;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828800" cy="457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1E32"/>
                </a:solidFill>
              </a:defRPr>
            </a:pPr>
          </a:p>
          <a:p>
            <a:pPr>
              <a:spcBef>
                <a:spcPts val="1400"/>
              </a:spcBef>
              <a:defRPr sz="1800" b="1">
                <a:solidFill>
                  <a:srgbClr val="4F46E5"/>
                </a:solidFill>
              </a:defRPr>
            </a:pPr>
            <a:r>
              <a:t>Future Enhancements</a:t>
            </a:r>
          </a:p>
          <a:p>
            <a:pPr>
              <a:spcBef>
                <a:spcPts val="600"/>
              </a:spcBef>
              <a:defRPr sz="1400" b="0">
                <a:solidFill>
                  <a:srgbClr val="646478"/>
                </a:solidFill>
              </a:defRPr>
            </a:pPr>
            <a:r>
              <a:t>▸  OAuth login (Google, GitHub)</a:t>
            </a:r>
          </a:p>
          <a:p>
            <a:pPr>
              <a:spcBef>
                <a:spcPts val="600"/>
              </a:spcBef>
              <a:defRPr sz="1400" b="0">
                <a:solidFill>
                  <a:srgbClr val="646478"/>
                </a:solidFill>
              </a:defRPr>
            </a:pPr>
            <a:r>
              <a:t>▸  Cloud deployment (Vercel + Railway)</a:t>
            </a:r>
          </a:p>
          <a:p>
            <a:pPr>
              <a:spcBef>
                <a:spcPts val="600"/>
              </a:spcBef>
              <a:defRPr sz="1400" b="0">
                <a:solidFill>
                  <a:srgbClr val="646478"/>
                </a:solidFill>
              </a:defRPr>
            </a:pPr>
            <a:r>
              <a:t>▸  Git integration for version control</a:t>
            </a:r>
          </a:p>
          <a:p>
            <a:pPr>
              <a:spcBef>
                <a:spcPts val="600"/>
              </a:spcBef>
              <a:defRPr sz="1400" b="0">
                <a:solidFill>
                  <a:srgbClr val="646478"/>
                </a:solidFill>
              </a:defRPr>
            </a:pPr>
            <a:r>
              <a:t>▸  Terminal emulator (xterm.js)</a:t>
            </a:r>
          </a:p>
          <a:p>
            <a:pPr>
              <a:spcBef>
                <a:spcPts val="600"/>
              </a:spcBef>
              <a:defRPr sz="1400" b="0">
                <a:solidFill>
                  <a:srgbClr val="646478"/>
                </a:solidFill>
              </a:defRPr>
            </a:pPr>
            <a:r>
              <a:t>▸  Plugin marketplace for extensions</a:t>
            </a:r>
          </a:p>
          <a:p>
            <a:pPr>
              <a:spcBef>
                <a:spcPts val="600"/>
              </a:spcBef>
              <a:defRPr sz="1400" b="0">
                <a:solidFill>
                  <a:srgbClr val="646478"/>
                </a:solidFill>
              </a:defRPr>
            </a:pPr>
            <a:r>
              <a:t>▸  Mobile responsive design</a:t>
            </a:r>
          </a:p>
          <a:p>
            <a:pPr>
              <a:spcBef>
                <a:spcPts val="600"/>
              </a:spcBef>
              <a:defRPr sz="1400" b="0">
                <a:solidFill>
                  <a:srgbClr val="646478"/>
                </a:solidFill>
              </a:defRPr>
            </a:pPr>
            <a:r>
              <a:t>▸  AI auto-complete while typing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4114800"/>
          </a:xfrm>
          <a:prstGeom prst="roundRect">
            <a:avLst/>
          </a:prstGeom>
          <a:solidFill>
            <a:srgbClr val="EE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8288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4F46E5"/>
                </a:solidFill>
              </a:defRPr>
            </a:pPr>
            <a:r>
              <a:t>Thank You!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926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B5CF6"/>
                </a:solidFill>
              </a:defRPr>
            </a:pPr>
            <a:r>
              <a:t>Questions &amp; Discussion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3566160"/>
            <a:ext cx="2286000" cy="36576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3931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6478"/>
                </a:solidFill>
              </a:defRPr>
            </a:pPr>
            <a:r>
              <a:t>CodeForge AI — Major Project 2025-26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4297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6478"/>
                </a:solidFill>
              </a:defRPr>
            </a:pPr>
            <a:r>
              <a:t>Department of Computer Science &amp;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